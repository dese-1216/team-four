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Azeret Mono Medium" panose="020B0604020202020204" charset="0"/>
      <p:regular r:id="rId11"/>
      <p:bold r:id="rId12"/>
      <p:italic r:id="rId13"/>
      <p:bold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Exo 2" panose="020B0604020202020204" charset="0"/>
      <p:bold r:id="rId23"/>
      <p:boldItalic r:id="rId24"/>
    </p:embeddedFont>
    <p:embeddedFont>
      <p:font typeface="Fira Sans" panose="020B0503050000020004" pitchFamily="34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3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team and state the core hackathon objective: predicting plot yield in tons per hectare before planting takes place, without data leakage.</a:t>
            </a:r>
            <a:endParaRPr/>
          </a:p>
        </p:txBody>
      </p:sp>
      <p:sp>
        <p:nvSpPr>
          <p:cNvPr id="23" name="Google Shape;2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raw sources, the growing-season aggregation rule, and the join audit metrics. Reassure judges that prices are held separate for revenue evaluation only.</a:t>
            </a:r>
            <a:endParaRPr/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Contrast physical tonnage with farmgate revenue. Explain the commercial trade-off smallholders face when choosing between hardy staple calories (like maize or sorghum) and cash-value crops (like teff).</a:t>
            </a:r>
            <a:endParaRPr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the model progression from dummy mean baseline to your tuned champion model. Highlight the explicit ablation test confirming that weather features provided a genuine predictive signal.</a:t>
            </a:r>
            <a:endParaRPr/>
          </a:p>
        </p:txBody>
      </p:sp>
      <p:sp>
        <p:nvSpPr>
          <p:cNvPr id="136" name="Google Shape;13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Conclude with the real-world deployment: explain what the extension worker enters into the app, how yield translates into economic advisory, and what error patterns remain to be tackled next.</a:t>
            </a:r>
            <a:endParaRPr/>
          </a:p>
        </p:txBody>
      </p:sp>
      <p:sp>
        <p:nvSpPr>
          <p:cNvPr id="164" name="Google Shape;16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102B44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2">
  <p:cSld name="Slide master 2">
    <p:bg>
      <p:bgPr>
        <a:solidFill>
          <a:srgbClr val="102B44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530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Google Shape;15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3">
  <p:cSld name="Slide master 3">
    <p:bg>
      <p:bgPr>
        <a:solidFill>
          <a:srgbClr val="102B44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419100" y="771823"/>
            <a:ext cx="8305800" cy="9525"/>
          </a:xfrm>
          <a:prstGeom prst="rect">
            <a:avLst/>
          </a:prstGeom>
          <a:solidFill>
            <a:srgbClr val="E2DCEA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6"/>
          <p:cNvSpPr/>
          <p:nvPr/>
        </p:nvSpPr>
        <p:spPr>
          <a:xfrm>
            <a:off x="419100" y="304800"/>
            <a:ext cx="1520354" cy="173980"/>
          </a:xfrm>
          <a:prstGeom prst="roundRect">
            <a:avLst>
              <a:gd name="adj" fmla="val 26443"/>
            </a:avLst>
          </a:prstGeom>
          <a:noFill/>
          <a:ln w="9525" cap="flat" cmpd="sng">
            <a:solidFill>
              <a:srgbClr val="25CB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6"/>
          <p:cNvSpPr/>
          <p:nvPr/>
        </p:nvSpPr>
        <p:spPr>
          <a:xfrm>
            <a:off x="479301" y="328836"/>
            <a:ext cx="1857152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5CB58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25CB58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01 · PROBLEM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2020416" y="328836"/>
            <a:ext cx="1934914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02 · PIPELINE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3579093" y="328836"/>
            <a:ext cx="2012677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03 · DISCOVERY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6"/>
          <p:cNvSpPr/>
          <p:nvPr/>
        </p:nvSpPr>
        <p:spPr>
          <a:xfrm>
            <a:off x="5215533" y="328836"/>
            <a:ext cx="2090440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04 · EVALUATION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419100" y="583778"/>
            <a:ext cx="2323728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05 · DECISION TOOL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419100" y="1074393"/>
            <a:ext cx="5067300" cy="1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QIYAS AI HACKATHON · CROP YIELD REGRESSION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419100" y="1404417"/>
            <a:ext cx="48387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Exo 2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Predicting Crop Yield Before Planting Decisions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419100" y="2215232"/>
            <a:ext cx="4838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Fira Sans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Ethiopian smallholder regression · five regions · five crops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419100" y="2827213"/>
            <a:ext cx="48387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300"/>
              <a:buFont typeface="Fira Sans"/>
              <a:buNone/>
            </a:pPr>
            <a:r>
              <a:rPr lang="en-US" sz="1300" b="0" i="1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Can we predict crop yield before planting using only information available at or before planting time?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419100" y="3348261"/>
            <a:ext cx="5067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150"/>
              <a:buFont typeface="Fira Sans"/>
              <a:buNone/>
            </a:pPr>
            <a:r>
              <a:rPr lang="en-US" sz="1150" b="1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Inputs</a:t>
            </a:r>
            <a:r>
              <a:rPr lang="en-US" sz="1150" b="0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 · plot survey data · regional weather · market prices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419100" y="3636094"/>
            <a:ext cx="4838700" cy="5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TARGET:</a:t>
            </a:r>
            <a:r>
              <a:rPr lang="en-US" sz="900" i="0" u="none" strike="noStrike" cap="none">
                <a:solidFill>
                  <a:srgbClr val="25CB58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YIELD_TONS_PER_HA</a:t>
            </a:r>
            <a:endParaRPr sz="9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Clr>
                <a:srgbClr val="BBAFCF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FOR EACH LEADERBOARD PLOT, USING ONLY INFORMATION KNOWN AT OR BEFORE PLANTING TIME.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0" y="988293"/>
            <a:ext cx="3657600" cy="4155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42900" y="612130"/>
            <a:ext cx="8458200" cy="9525"/>
          </a:xfrm>
          <a:prstGeom prst="rect">
            <a:avLst/>
          </a:prstGeom>
          <a:solidFill>
            <a:srgbClr val="E2DCEA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423863" y="400050"/>
            <a:ext cx="2531343" cy="173980"/>
          </a:xfrm>
          <a:prstGeom prst="roundRect">
            <a:avLst>
              <a:gd name="adj" fmla="val 26443"/>
            </a:avLst>
          </a:prstGeom>
          <a:noFill/>
          <a:ln w="9525" cap="flat" cmpd="sng">
            <a:solidFill>
              <a:srgbClr val="25CB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484063" y="424086"/>
            <a:ext cx="2868141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5CB58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25CB58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QIYAS HACKATHON · 5-MEMBER TEAM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 rot="-720000">
            <a:off x="730300" y="2959075"/>
            <a:ext cx="3619500" cy="666750"/>
          </a:xfrm>
          <a:prstGeom prst="ellipse">
            <a:avLst/>
          </a:prstGeom>
          <a:noFill/>
          <a:ln w="19050" cap="flat" cmpd="sng">
            <a:solidFill>
              <a:srgbClr val="25CB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3918496" y="3127697"/>
            <a:ext cx="133350" cy="133350"/>
          </a:xfrm>
          <a:prstGeom prst="ellipse">
            <a:avLst/>
          </a:prstGeom>
          <a:solidFill>
            <a:srgbClr val="25CB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457572" y="1949053"/>
            <a:ext cx="4667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3000"/>
              <a:buFont typeface="Azeret Mono Medium"/>
              <a:buNone/>
            </a:pPr>
            <a:r>
              <a:rPr lang="en-US" sz="300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QIYAS HACKATHON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457572" y="2508647"/>
            <a:ext cx="42100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Exo 2"/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Team Farm</a:t>
            </a:r>
            <a:endParaRPr sz="5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5602412" y="1722239"/>
            <a:ext cx="3435176" cy="2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1400"/>
              <a:buFont typeface="Azeret Mono Medium"/>
              <a:buNone/>
            </a:pPr>
            <a:r>
              <a:rPr lang="en-US" sz="140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TEAM FARM - 5 MEMBERS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5602412" y="2102718"/>
            <a:ext cx="2977976" cy="1428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4480" marR="0" lvl="0" indent="-28448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Desalegn Mengsitu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4480" marR="0" lvl="0" indent="-28448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Abreham Cheru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4480" marR="0" lvl="0" indent="-28448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Regina Giovanni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4480" marR="0" lvl="0" indent="-28448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Henok Solomon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4480" marR="0" lvl="0" indent="-28448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Mohammed Omer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5602412" y="3715717"/>
            <a:ext cx="2977976" cy="23738"/>
          </a:xfrm>
          <a:prstGeom prst="roundRect">
            <a:avLst>
              <a:gd name="adj" fmla="val 50000"/>
            </a:avLst>
          </a:prstGeom>
          <a:solidFill>
            <a:srgbClr val="4A3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5602412" y="3924077"/>
            <a:ext cx="3435176" cy="23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1400"/>
              <a:buFont typeface="Azeret Mono Medium"/>
              <a:buNone/>
            </a:pPr>
            <a:r>
              <a:rPr lang="en-US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SUBMITTED</a:t>
            </a:r>
            <a:r>
              <a:rPr lang="en-US" sz="140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 ON: </a:t>
            </a:r>
            <a:r>
              <a:rPr lang="en-US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October 6, 2026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1400"/>
              <a:buFont typeface="Azeret Mono Medium"/>
              <a:buNone/>
            </a:pPr>
            <a:endParaRPr>
              <a:solidFill>
                <a:srgbClr val="BBAFCF"/>
              </a:solidFill>
              <a:latin typeface="Azeret Mono Medium"/>
              <a:ea typeface="Azeret Mono Medium"/>
              <a:cs typeface="Azeret Mono Medium"/>
              <a:sym typeface="Azeret Mono Medium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7832231" y="4664597"/>
            <a:ext cx="1289400" cy="472200"/>
          </a:xfrm>
          <a:prstGeom prst="rect">
            <a:avLst/>
          </a:prstGeom>
          <a:solidFill>
            <a:srgbClr val="102B4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381000" y="593080"/>
            <a:ext cx="8382000" cy="9525"/>
          </a:xfrm>
          <a:prstGeom prst="rect">
            <a:avLst/>
          </a:prstGeom>
          <a:solidFill>
            <a:srgbClr val="E2DCEA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623888" y="381000"/>
            <a:ext cx="120402" cy="173980"/>
          </a:xfrm>
          <a:prstGeom prst="roundRect">
            <a:avLst>
              <a:gd name="adj" fmla="val 38210"/>
            </a:avLst>
          </a:prstGeom>
          <a:noFill/>
          <a:ln w="9525" cap="flat" cmpd="sng">
            <a:solidFill>
              <a:srgbClr val="25CB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381000" y="762149"/>
            <a:ext cx="8382000" cy="287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xo 2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Data sources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381000" y="1212056"/>
            <a:ext cx="8382000" cy="1031081"/>
          </a:xfrm>
          <a:prstGeom prst="roundRect">
            <a:avLst>
              <a:gd name="adj" fmla="val 6596"/>
            </a:avLst>
          </a:prstGeom>
          <a:noFill/>
          <a:ln w="19050" cap="flat" cmpd="sng">
            <a:solidFill>
              <a:srgbClr val="2D85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050" y="1231106"/>
            <a:ext cx="8343900" cy="9929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>
            <a:off x="400050" y="1231106"/>
            <a:ext cx="8343900" cy="992981"/>
          </a:xfrm>
          <a:prstGeom prst="roundRect">
            <a:avLst>
              <a:gd name="adj" fmla="val 6849"/>
            </a:avLst>
          </a:prstGeom>
          <a:solidFill>
            <a:srgbClr val="1E1530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609600" y="1459706"/>
            <a:ext cx="7924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Fira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PLOT SURVEY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609600" y="1774478"/>
            <a:ext cx="8153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15,090 plots · 2021–2024 · region · crop · planting information · plot characteristics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381000" y="2471663"/>
            <a:ext cx="8382000" cy="1031230"/>
          </a:xfrm>
          <a:prstGeom prst="roundRect">
            <a:avLst>
              <a:gd name="adj" fmla="val 6595"/>
            </a:avLst>
          </a:prstGeom>
          <a:noFill/>
          <a:ln w="19050" cap="flat" cmpd="sng">
            <a:solidFill>
              <a:srgbClr val="2D85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Google Shape;70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0050" y="2490713"/>
            <a:ext cx="8343900" cy="99313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400050" y="2490713"/>
            <a:ext cx="8343900" cy="993130"/>
          </a:xfrm>
          <a:prstGeom prst="roundRect">
            <a:avLst>
              <a:gd name="adj" fmla="val 6848"/>
            </a:avLst>
          </a:prstGeom>
          <a:solidFill>
            <a:srgbClr val="1E1530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609600" y="2719313"/>
            <a:ext cx="7924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Fira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REGIONAL WEATHER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09600" y="3034085"/>
            <a:ext cx="8153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 regions · 4 years · 12 months/year · rainfall · temperature · humidity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381000" y="3731419"/>
            <a:ext cx="8382000" cy="1031081"/>
          </a:xfrm>
          <a:prstGeom prst="roundRect">
            <a:avLst>
              <a:gd name="adj" fmla="val 6596"/>
            </a:avLst>
          </a:prstGeom>
          <a:solidFill>
            <a:srgbClr val="1F7135"/>
          </a:solidFill>
          <a:ln w="19050" cap="flat" cmpd="sng">
            <a:solidFill>
              <a:srgbClr val="2D85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0050" y="3750469"/>
            <a:ext cx="8343900" cy="99298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/>
          <p:nvPr/>
        </p:nvSpPr>
        <p:spPr>
          <a:xfrm>
            <a:off x="400050" y="3750469"/>
            <a:ext cx="8343900" cy="992981"/>
          </a:xfrm>
          <a:prstGeom prst="roundRect">
            <a:avLst>
              <a:gd name="adj" fmla="val 6849"/>
            </a:avLst>
          </a:prstGeom>
          <a:solidFill>
            <a:srgbClr val="1E1530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609600" y="3979069"/>
            <a:ext cx="7924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Fira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MARKET PRICES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609600" y="4293840"/>
            <a:ext cx="8153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 crops · 5 regions · 4 years · market price · used for revenue estimation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0" y="4830811"/>
            <a:ext cx="9135968" cy="304905"/>
          </a:xfrm>
          <a:prstGeom prst="rect">
            <a:avLst/>
          </a:prstGeom>
          <a:solidFill>
            <a:srgbClr val="27202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381000" y="593080"/>
            <a:ext cx="8382000" cy="9525"/>
          </a:xfrm>
          <a:prstGeom prst="rect">
            <a:avLst/>
          </a:prstGeom>
          <a:solidFill>
            <a:srgbClr val="FFFFFF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381000" y="405036"/>
            <a:ext cx="1857152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01 · PROBLEM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1861914" y="381000"/>
            <a:ext cx="1598116" cy="173980"/>
          </a:xfrm>
          <a:prstGeom prst="roundRect">
            <a:avLst>
              <a:gd name="adj" fmla="val 26443"/>
            </a:avLst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1922115" y="405036"/>
            <a:ext cx="1934914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5CB58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25CB58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02 · PIPELINE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3540993" y="405036"/>
            <a:ext cx="2012677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03 · DISCOVERY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5177433" y="405036"/>
            <a:ext cx="2090440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04 · EVALUATION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6891635" y="405036"/>
            <a:ext cx="2252365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05 · DECISION TOOL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381000" y="762149"/>
            <a:ext cx="8382000" cy="32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"/>
              <a:buNone/>
            </a:pPr>
            <a:r>
              <a:rPr lang="en-US" sz="2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Three exports → one trustworthy modeling table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381000" y="1405600"/>
            <a:ext cx="4076700" cy="3461100"/>
          </a:xfrm>
          <a:prstGeom prst="roundRect">
            <a:avLst>
              <a:gd name="adj" fmla="val 1825"/>
            </a:avLst>
          </a:prstGeom>
          <a:solidFill>
            <a:srgbClr val="102B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9"/>
          <p:cNvSpPr/>
          <p:nvPr/>
        </p:nvSpPr>
        <p:spPr>
          <a:xfrm>
            <a:off x="552450" y="1405607"/>
            <a:ext cx="373380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ontserrat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Data-quality problems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552450" y="1897026"/>
            <a:ext cx="373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REGION LABELS:</a:t>
            </a:r>
            <a:r>
              <a:rPr lang="en-US" sz="11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4+ casing/label variants and abbreviations such as AMH/SOM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552450" y="2604226"/>
            <a:ext cx="3733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CROP LABELS:</a:t>
            </a:r>
            <a:r>
              <a:rPr lang="en-US" sz="11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Tef / teff spelling mismatch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552450" y="3168049"/>
            <a:ext cx="3733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MISSING VALUES:</a:t>
            </a:r>
            <a:r>
              <a:rPr lang="en-US" sz="11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-999 and -999.0 sentinels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552450" y="3602013"/>
            <a:ext cx="3733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PRICE UNITS:</a:t>
            </a:r>
            <a:r>
              <a:rPr lang="en-US" sz="11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Birr/kg vs Birr/quintal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4686300" y="1253207"/>
            <a:ext cx="4076700" cy="3725912"/>
          </a:xfrm>
          <a:prstGeom prst="roundRect">
            <a:avLst>
              <a:gd name="adj" fmla="val 1825"/>
            </a:avLst>
          </a:prstGeom>
          <a:solidFill>
            <a:srgbClr val="102B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9"/>
          <p:cNvSpPr/>
          <p:nvPr/>
        </p:nvSpPr>
        <p:spPr>
          <a:xfrm>
            <a:off x="4857750" y="1405607"/>
            <a:ext cx="373380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ontserrat"/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Join logic</a:t>
            </a:r>
            <a:endParaRPr sz="16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857750" y="1773213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FA7A0"/>
              </a:buClr>
              <a:buSzPts val="1150"/>
              <a:buFont typeface="Montserrat"/>
              <a:buNone/>
            </a:pPr>
            <a:r>
              <a:rPr lang="en-US" sz="1150" b="0" i="0" u="none" strike="noStrike" cap="none">
                <a:solidFill>
                  <a:srgbClr val="4FA7A0"/>
                </a:solidFill>
                <a:latin typeface="Montserrat"/>
                <a:ea typeface="Montserrat"/>
                <a:cs typeface="Montserrat"/>
                <a:sym typeface="Montserrat"/>
              </a:rPr>
              <a:t>PLOT TABLE · LEFT JOIN ↓ SEASONAL WEATHER ↓ PRICE DATA ↓ CLEAN MASTER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4857750" y="2268513"/>
            <a:ext cx="3733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Monthly regional weather becomes one season-level row per plot. Growing-season rule: planting month + following 3 months, including year wraparound.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4857750" y="3182913"/>
            <a:ext cx="373380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ontserrat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Join audit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4857750" y="3550518"/>
            <a:ext cx="3733800" cy="129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4160" marR="0" lvl="0" indent="-26416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Sans"/>
              <a:buChar char="•"/>
            </a:pPr>
            <a:r>
              <a:rPr lang="en-US"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Weather full-window match: </a:t>
            </a:r>
            <a:r>
              <a:rPr lang="en-US" sz="13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80.63</a:t>
            </a:r>
            <a:r>
              <a:rPr lang="en-US"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6416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Sans"/>
              <a:buChar char="•"/>
            </a:pPr>
            <a:r>
              <a:rPr lang="en-US"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Price match: XX.X%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6416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Sans"/>
              <a:buChar char="•"/>
            </a:pPr>
            <a:r>
              <a:rPr lang="en-US"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Rows before: [INSERT]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6416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Sans"/>
              <a:buChar char="•"/>
            </a:pPr>
            <a:r>
              <a:rPr lang="en-US"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Rows after: [INSERT]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6416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Sans"/>
              <a:buChar char="•"/>
            </a:pPr>
            <a:r>
              <a:rPr lang="en-US"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Unmatched handling: [INSERT]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552450" y="2339950"/>
            <a:ext cx="3733800" cy="9525"/>
          </a:xfrm>
          <a:prstGeom prst="rect">
            <a:avLst/>
          </a:prstGeom>
          <a:solidFill>
            <a:srgbClr val="EAF5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552450" y="2882875"/>
            <a:ext cx="3733800" cy="9525"/>
          </a:xfrm>
          <a:prstGeom prst="rect">
            <a:avLst/>
          </a:prstGeom>
          <a:solidFill>
            <a:srgbClr val="EAF5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552450" y="3425800"/>
            <a:ext cx="3733800" cy="9525"/>
          </a:xfrm>
          <a:prstGeom prst="rect">
            <a:avLst/>
          </a:prstGeom>
          <a:solidFill>
            <a:srgbClr val="EAF5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386039-5035-4A44-BF5A-DA6A310438A3}"/>
              </a:ext>
            </a:extLst>
          </p:cNvPr>
          <p:cNvSpPr/>
          <p:nvPr/>
        </p:nvSpPr>
        <p:spPr>
          <a:xfrm>
            <a:off x="8038826" y="4979119"/>
            <a:ext cx="1059125" cy="952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D77876-1896-4766-9205-933BD0073FB1}"/>
              </a:ext>
            </a:extLst>
          </p:cNvPr>
          <p:cNvSpPr/>
          <p:nvPr/>
        </p:nvSpPr>
        <p:spPr>
          <a:xfrm>
            <a:off x="8763000" y="4416357"/>
            <a:ext cx="334951" cy="63442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/>
          <p:nvPr/>
        </p:nvSpPr>
        <p:spPr>
          <a:xfrm>
            <a:off x="381000" y="593080"/>
            <a:ext cx="8382000" cy="9525"/>
          </a:xfrm>
          <a:prstGeom prst="rect">
            <a:avLst/>
          </a:prstGeom>
          <a:solidFill>
            <a:srgbClr val="E2DCEA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381000" y="405036"/>
            <a:ext cx="1857152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01 · PROBLEM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1861914" y="405036"/>
            <a:ext cx="1934914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02 · PIPELINE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3420591" y="381000"/>
            <a:ext cx="1675879" cy="173980"/>
          </a:xfrm>
          <a:prstGeom prst="roundRect">
            <a:avLst>
              <a:gd name="adj" fmla="val 26443"/>
            </a:avLst>
          </a:prstGeom>
          <a:noFill/>
          <a:ln w="9525" cap="flat" cmpd="sng">
            <a:solidFill>
              <a:srgbClr val="25CB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480792" y="405036"/>
            <a:ext cx="2012677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5CB58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25CB58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03 · DISCOVERY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5177433" y="405036"/>
            <a:ext cx="2090440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04 · EVALUATION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6891635" y="405036"/>
            <a:ext cx="2252365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05 · DECISION TOOL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381000" y="762149"/>
            <a:ext cx="8382000" cy="32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Exo 2"/>
              <a:buNone/>
            </a:pPr>
            <a:r>
              <a:rPr lang="en-US" sz="2300" b="1" i="0" u="none" strike="noStrike" cap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The data reveals where yield and value move together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81000" y="1253207"/>
            <a:ext cx="876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High yield does not always maximize gross value; prices and regional risk reshape smallholder margins.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381000" y="1548474"/>
            <a:ext cx="4076700" cy="2836800"/>
          </a:xfrm>
          <a:prstGeom prst="roundRect">
            <a:avLst>
              <a:gd name="adj" fmla="val 265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533400" y="1681832"/>
            <a:ext cx="3924300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FIGURE 1 · MEAN YIELD BY CROP (TONS / HA)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925613"/>
            <a:ext cx="3619500" cy="147734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0"/>
          <p:cNvSpPr/>
          <p:nvPr/>
        </p:nvSpPr>
        <p:spPr>
          <a:xfrm>
            <a:off x="533400" y="3467249"/>
            <a:ext cx="3771900" cy="36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TAKEAWAY: </a:t>
            </a:r>
            <a:r>
              <a:rPr lang="en-US" sz="900">
                <a:latin typeface="Azeret Mono Medium"/>
                <a:ea typeface="Azeret Mono Medium"/>
                <a:cs typeface="Azeret Mono Medium"/>
                <a:sym typeface="Azeret Mono Medium"/>
              </a:rPr>
              <a:t>Maize has the highest average yield at 3.90 t/ha, while teff is lowest at 2.00 t/ha — a 1.90 t/ha gap across crops.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686300" y="1548474"/>
            <a:ext cx="4076700" cy="2836800"/>
          </a:xfrm>
          <a:prstGeom prst="roundRect">
            <a:avLst>
              <a:gd name="adj" fmla="val 265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4838700" y="1681832"/>
            <a:ext cx="3771900" cy="297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FIGURE 2 · ESTIMATED REVENUE BY CROP (1K ETB / HA)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8700" y="2074143"/>
            <a:ext cx="3619500" cy="147734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4838700" y="3615779"/>
            <a:ext cx="3771900" cy="36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TAKEAWAY: </a:t>
            </a:r>
            <a:r>
              <a:rPr lang="en-US" sz="900">
                <a:latin typeface="Azeret Mono Medium"/>
                <a:ea typeface="Azeret Mono Medium"/>
                <a:cs typeface="Azeret Mono Medium"/>
                <a:sym typeface="Azeret Mono Medium"/>
              </a:rPr>
              <a:t>Teff has the lowest average yield at 2.00 t/ha, yet generates the highest estimated gross revenue at ≈152K ETB/ha — showing that yield alone does not determine economic value.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514350" y="4480525"/>
            <a:ext cx="80964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Fira Sans"/>
              <a:buNone/>
            </a:pPr>
            <a:r>
              <a:rPr lang="en-US" sz="11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Agronomic vs economic reality:</a:t>
            </a:r>
            <a:r>
              <a:rPr lang="en-US" sz="11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Revenue / ha = yield × 10 quintals/ton × price / quintal. Teff has the lowest physical yield per hectare but, at market prices, leads total per-hectare gross revenue. </a:t>
            </a:r>
            <a:r>
              <a:rPr lang="en-US" sz="1150">
                <a:solidFill>
                  <a:srgbClr val="25CB58"/>
                </a:solidFill>
                <a:latin typeface="Fira Sans"/>
                <a:ea typeface="Fira Sans"/>
                <a:cs typeface="Fira Sans"/>
                <a:sym typeface="Fira Sans"/>
              </a:rPr>
              <a:t>[INSERT ONE-SENTENCE DOMAIN MEANING]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8044322" y="4839747"/>
            <a:ext cx="1093200" cy="297000"/>
          </a:xfrm>
          <a:prstGeom prst="rect">
            <a:avLst/>
          </a:prstGeom>
          <a:solidFill>
            <a:srgbClr val="102B44"/>
          </a:solidFill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381000" y="593080"/>
            <a:ext cx="8382000" cy="9525"/>
          </a:xfrm>
          <a:prstGeom prst="rect">
            <a:avLst/>
          </a:prstGeom>
          <a:solidFill>
            <a:srgbClr val="E2DCEA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/>
          <p:cNvSpPr/>
          <p:nvPr/>
        </p:nvSpPr>
        <p:spPr>
          <a:xfrm>
            <a:off x="381000" y="405036"/>
            <a:ext cx="1857152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01 · PROBLEM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1861914" y="405036"/>
            <a:ext cx="1934914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02 · PIPELINE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3420591" y="405036"/>
            <a:ext cx="2012677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03 · DISCOVERY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5057031" y="381000"/>
            <a:ext cx="1753642" cy="173980"/>
          </a:xfrm>
          <a:prstGeom prst="roundRect">
            <a:avLst>
              <a:gd name="adj" fmla="val 26443"/>
            </a:avLst>
          </a:prstGeom>
          <a:noFill/>
          <a:ln w="9525" cap="flat" cmpd="sng">
            <a:solidFill>
              <a:srgbClr val="25CB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5117232" y="405036"/>
            <a:ext cx="2090440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5CB58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25CB58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04 · EVALUATION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6891635" y="405036"/>
            <a:ext cx="2252365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05 · DECISION TOOL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381000" y="762149"/>
            <a:ext cx="8382000" cy="32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Exo 2"/>
              <a:buNone/>
            </a:pPr>
            <a:r>
              <a:rPr lang="en-US" sz="2300" b="1" i="0" u="none" strike="noStrike" cap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Weather features must prove value on held-out evaluation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381000" y="1253207"/>
            <a:ext cx="876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Leak-free 5-fold cross-validation · seed [INSERT RANDOM SEED].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381000" y="1598488"/>
            <a:ext cx="4892055" cy="3164012"/>
          </a:xfrm>
          <a:prstGeom prst="roundRect">
            <a:avLst>
              <a:gd name="adj" fmla="val 214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552450" y="1731838"/>
            <a:ext cx="4720605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5-FOLD CV VALIDATION RMSE · TONS / HA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450" y="1975619"/>
            <a:ext cx="4549155" cy="139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/>
          <p:nvPr/>
        </p:nvSpPr>
        <p:spPr>
          <a:xfrm>
            <a:off x="552450" y="3432497"/>
            <a:ext cx="4549155" cy="36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5-FOLD CV SPLIT [INSERT SPLIT] · RMSE [INSERT RMSE MEAN ± SD]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552450" y="3891483"/>
            <a:ext cx="4720605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KEY TAKEAWAY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52450" y="4135264"/>
            <a:ext cx="454915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Pre-season cumulative rainfall and early moisture indices meaningfully reduced variance in rainfed highland plots.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5501580" y="1598488"/>
            <a:ext cx="3261420" cy="3164012"/>
          </a:xfrm>
          <a:prstGeom prst="roundRect">
            <a:avLst>
              <a:gd name="adj" fmla="val 214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1"/>
          <p:cNvSpPr/>
          <p:nvPr/>
        </p:nvSpPr>
        <p:spPr>
          <a:xfrm>
            <a:off x="5673030" y="1693738"/>
            <a:ext cx="2918520" cy="39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WEATHER ABLATION &amp; FINAL METRICS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SELECTED CHAMPION MODEL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5673030" y="2231306"/>
            <a:ext cx="2918520" cy="2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Fira Sans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[INSERT MODEL NAME]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5673030" y="2570857"/>
            <a:ext cx="308997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RMSE </a:t>
            </a:r>
            <a:r>
              <a:rPr lang="en-US" sz="115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[INSERT]</a:t>
            </a: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· MAE </a:t>
            </a:r>
            <a:r>
              <a:rPr lang="en-US" sz="115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[INSERT]</a:t>
            </a: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· R²</a:t>
            </a:r>
            <a:r>
              <a:rPr lang="en-US" sz="1500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= 0.886 </a:t>
            </a:r>
            <a:r>
              <a:rPr lang="en-US" sz="115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5673030" y="2905423"/>
            <a:ext cx="2918520" cy="23738"/>
          </a:xfrm>
          <a:prstGeom prst="roundRect">
            <a:avLst>
              <a:gd name="adj" fmla="val 50000"/>
            </a:avLst>
          </a:prstGeom>
          <a:solidFill>
            <a:srgbClr val="4A3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5673030" y="3063776"/>
            <a:ext cx="3089970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CONTROLLED WEATHER ABLATION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5673030" y="3307556"/>
            <a:ext cx="29185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Without weather </a:t>
            </a:r>
            <a:r>
              <a:rPr lang="en-US" sz="115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[INSERT RMSE]</a:t>
            </a: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→ with weather </a:t>
            </a:r>
            <a:r>
              <a:rPr lang="en-US" sz="115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[INSERT RMSE]</a:t>
            </a: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· delta </a:t>
            </a:r>
            <a:r>
              <a:rPr lang="en-US" sz="115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[INSERT DELTA]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7847997" y="4807672"/>
            <a:ext cx="1289400" cy="329100"/>
          </a:xfrm>
          <a:prstGeom prst="rect">
            <a:avLst/>
          </a:prstGeom>
          <a:solidFill>
            <a:srgbClr val="102B44"/>
          </a:solidFill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>
            <a:off x="381000" y="593080"/>
            <a:ext cx="8382000" cy="9525"/>
          </a:xfrm>
          <a:prstGeom prst="rect">
            <a:avLst/>
          </a:prstGeom>
          <a:solidFill>
            <a:srgbClr val="E2DCEA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"/>
          <p:cNvSpPr/>
          <p:nvPr/>
        </p:nvSpPr>
        <p:spPr>
          <a:xfrm>
            <a:off x="381000" y="405036"/>
            <a:ext cx="1857152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01 · PROBLEM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1861914" y="405036"/>
            <a:ext cx="1934914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02 · PIPELINE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3420591" y="405036"/>
            <a:ext cx="2012677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03 · DISCOVERY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5057031" y="405036"/>
            <a:ext cx="2090440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04 · EVALUATION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6771233" y="381000"/>
            <a:ext cx="1986930" cy="173980"/>
          </a:xfrm>
          <a:prstGeom prst="roundRect">
            <a:avLst>
              <a:gd name="adj" fmla="val 26443"/>
            </a:avLst>
          </a:prstGeom>
          <a:noFill/>
          <a:ln w="9525" cap="flat" cmpd="sng">
            <a:solidFill>
              <a:srgbClr val="25CB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6831434" y="405036"/>
            <a:ext cx="2312566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5CB58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25CB58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STAGE 05 · DECISION TOOL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381000" y="697855"/>
            <a:ext cx="8382000" cy="32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Exo 2"/>
              <a:buNone/>
            </a:pPr>
            <a:r>
              <a:rPr lang="en-US" sz="2300" b="1" i="0" u="none" strike="noStrike" cap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From prediction error to a working decision tool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381000" y="1188913"/>
            <a:ext cx="876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DCEA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2DCEA"/>
                </a:solidFill>
                <a:latin typeface="Fira Sans"/>
                <a:ea typeface="Fira Sans"/>
                <a:cs typeface="Fira Sans"/>
                <a:sym typeface="Fira Sans"/>
              </a:rPr>
              <a:t>Translating regression outputs into an accessible planting advisory application for extension workers.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534195"/>
            <a:ext cx="163071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2"/>
          <p:cNvSpPr/>
          <p:nvPr/>
        </p:nvSpPr>
        <p:spPr>
          <a:xfrm>
            <a:off x="2240235" y="1534195"/>
            <a:ext cx="3204195" cy="1485900"/>
          </a:xfrm>
          <a:prstGeom prst="roundRect">
            <a:avLst>
              <a:gd name="adj" fmla="val 457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2354535" y="1629445"/>
            <a:ext cx="3089895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LEADERBOARD SCORE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2354535" y="1923231"/>
            <a:ext cx="297559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B95613"/>
              </a:buClr>
              <a:buSzPts val="3150"/>
              <a:buFont typeface="Exo 2"/>
              <a:buNone/>
            </a:pPr>
            <a:r>
              <a:rPr lang="en-US" sz="3150" b="1" i="0" u="none" strike="noStrike" cap="none">
                <a:solidFill>
                  <a:srgbClr val="B95613"/>
                </a:solidFill>
                <a:latin typeface="Exo 2"/>
                <a:ea typeface="Exo 2"/>
                <a:cs typeface="Exo 2"/>
                <a:sym typeface="Exo 2"/>
              </a:rPr>
              <a:t>[INSERT]</a:t>
            </a:r>
            <a:endParaRPr sz="3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2354535" y="2504256"/>
            <a:ext cx="308989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Final test set RMSE on held-out plots.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558730" y="1534195"/>
            <a:ext cx="3204195" cy="1485900"/>
          </a:xfrm>
          <a:prstGeom prst="roundRect">
            <a:avLst>
              <a:gd name="adj" fmla="val 457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5673030" y="1629445"/>
            <a:ext cx="2975595" cy="297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ERROR RESIDUAL ANALYSIS · HARDEST SUBGROUPS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673030" y="2021756"/>
            <a:ext cx="297559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[INSERT D7 FINDING: highest residual error crops and regions].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2240235" y="3134395"/>
            <a:ext cx="3204195" cy="1485900"/>
          </a:xfrm>
          <a:prstGeom prst="roundRect">
            <a:avLst>
              <a:gd name="adj" fmla="val 457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2354535" y="3229645"/>
            <a:ext cx="3089895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zeret Mono Medium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LIVE DEPLOYED ADVISORY APPLICATION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2354535" y="3473425"/>
            <a:ext cx="2975595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ira Sans"/>
              <a:buNone/>
            </a:pPr>
            <a:r>
              <a:rPr lang="en-US" sz="115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Run command:</a:t>
            </a: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[INSERT DEMO URL OR LOCAL RUN COMMAND]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ira Sans"/>
              <a:buNone/>
            </a:pPr>
            <a:r>
              <a:rPr lang="en-US" sz="115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User inputs:</a:t>
            </a:r>
            <a:r>
              <a:rPr lang="en-US" sz="115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Region, plot size, anticipated planting month, and selected crop.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5558730" y="3134394"/>
            <a:ext cx="3204195" cy="1628105"/>
          </a:xfrm>
          <a:prstGeom prst="roundRect">
            <a:avLst>
              <a:gd name="adj" fmla="val 457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5673030" y="3229645"/>
            <a:ext cx="2975595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ira Sans"/>
              <a:buNone/>
            </a:pPr>
            <a:r>
              <a:rPr lang="en-US" sz="115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Model outputs:</a:t>
            </a:r>
            <a:r>
              <a:rPr lang="en-US" sz="1150" b="0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Expected yield (t/ha), confidence interval, estimated gross revenue (ETB), and historical weather context.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ira Sans"/>
              <a:buNone/>
            </a:pPr>
            <a:r>
              <a:rPr lang="en-US" sz="115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Next technical step:</a:t>
            </a:r>
            <a:r>
              <a:rPr lang="en-US" sz="1150" b="0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[INSERT ONE IMPROVEMENT] · </a:t>
            </a:r>
            <a:r>
              <a:rPr lang="en-US" sz="115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Operational limitation:</a:t>
            </a:r>
            <a:r>
              <a:rPr lang="en-US" sz="1150" b="0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[INSERT ONE LIMITATION]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7847997" y="4801094"/>
            <a:ext cx="1289400" cy="329100"/>
          </a:xfrm>
          <a:prstGeom prst="rect">
            <a:avLst/>
          </a:prstGeom>
          <a:solidFill>
            <a:srgbClr val="102B44"/>
          </a:solidFill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/>
          <p:nvPr/>
        </p:nvSpPr>
        <p:spPr>
          <a:xfrm>
            <a:off x="383381" y="612130"/>
            <a:ext cx="8377238" cy="9525"/>
          </a:xfrm>
          <a:prstGeom prst="rect">
            <a:avLst/>
          </a:prstGeom>
          <a:solidFill>
            <a:srgbClr val="E2DCEA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3"/>
          <p:cNvSpPr/>
          <p:nvPr/>
        </p:nvSpPr>
        <p:spPr>
          <a:xfrm>
            <a:off x="383381" y="400050"/>
            <a:ext cx="664815" cy="173980"/>
          </a:xfrm>
          <a:prstGeom prst="roundRect">
            <a:avLst>
              <a:gd name="adj" fmla="val 26443"/>
            </a:avLst>
          </a:prstGeom>
          <a:noFill/>
          <a:ln w="9525" cap="flat" cmpd="sng">
            <a:solidFill>
              <a:srgbClr val="25CB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443582" y="424086"/>
            <a:ext cx="1001613" cy="1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5CB58"/>
              </a:buClr>
              <a:buSzPts val="850"/>
              <a:buFont typeface="Azeret Mono Medium"/>
              <a:buNone/>
            </a:pPr>
            <a:r>
              <a:rPr lang="en-US" sz="850" b="0" i="0" u="none" strike="noStrike" cap="none">
                <a:solidFill>
                  <a:srgbClr val="25CB58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THE END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 rot="-720086">
            <a:off x="2007383" y="2087826"/>
            <a:ext cx="4952960" cy="1619369"/>
          </a:xfrm>
          <a:prstGeom prst="ellipse">
            <a:avLst/>
          </a:prstGeom>
          <a:noFill/>
          <a:ln w="19050" cap="flat" cmpd="sng">
            <a:solidFill>
              <a:srgbClr val="25CB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6811500" y="2505000"/>
            <a:ext cx="133500" cy="133500"/>
          </a:xfrm>
          <a:prstGeom prst="ellipse">
            <a:avLst/>
          </a:prstGeom>
          <a:solidFill>
            <a:srgbClr val="25CB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900331" y="1865006"/>
            <a:ext cx="6472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BAFCF"/>
              </a:buClr>
              <a:buSzPts val="3000"/>
              <a:buFont typeface="Azeret Mono Medium"/>
              <a:buNone/>
            </a:pPr>
            <a:r>
              <a:rPr lang="en-US" sz="3000" b="0" i="0" u="none" strike="noStrike" cap="none">
                <a:solidFill>
                  <a:srgbClr val="BBAFCF"/>
                </a:solidFill>
                <a:latin typeface="Azeret Mono Medium"/>
                <a:ea typeface="Azeret Mono Medium"/>
                <a:cs typeface="Azeret Mono Medium"/>
                <a:sym typeface="Azeret Mono Medium"/>
              </a:rPr>
              <a:t>QIYAS HACKATHON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1048206" y="2554600"/>
            <a:ext cx="6015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Exo 2"/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Thank you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7847997" y="4807672"/>
            <a:ext cx="1289400" cy="329100"/>
          </a:xfrm>
          <a:prstGeom prst="rect">
            <a:avLst/>
          </a:prstGeom>
          <a:solidFill>
            <a:srgbClr val="102B44"/>
          </a:solidFill>
          <a:ln w="9525" cap="flat" cmpd="sng">
            <a:noFill/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02B4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954</Words>
  <Application>Microsoft Office PowerPoint</Application>
  <PresentationFormat>On-screen Show (16:9)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Consolas</vt:lpstr>
      <vt:lpstr>Azeret Mono Medium</vt:lpstr>
      <vt:lpstr>Calibri</vt:lpstr>
      <vt:lpstr>Exo 2</vt:lpstr>
      <vt:lpstr>Fira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Vita Zamprogno</cp:lastModifiedBy>
  <cp:revision>2</cp:revision>
  <dcterms:modified xsi:type="dcterms:W3CDTF">2026-10-06T13:03:18Z</dcterms:modified>
</cp:coreProperties>
</file>